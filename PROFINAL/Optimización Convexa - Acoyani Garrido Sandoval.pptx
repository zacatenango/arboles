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35" d="100"/>
          <a:sy n="235" d="100"/>
        </p:scale>
        <p:origin x="47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Arial"/>
              </a:rPr>
              <a:t>AUC-ROC (CV 5-fold)  vs  C  (escala log)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L2 (Ridge)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0.001</c:v>
                </c:pt>
                <c:pt idx="1">
                  <c:v>0.0027</c:v>
                </c:pt>
                <c:pt idx="2">
                  <c:v>0.0072</c:v>
                </c:pt>
                <c:pt idx="3">
                  <c:v>0.0193</c:v>
                </c:pt>
                <c:pt idx="4">
                  <c:v>0.0518</c:v>
                </c:pt>
                <c:pt idx="5">
                  <c:v>0.1389</c:v>
                </c:pt>
                <c:pt idx="6">
                  <c:v>0.3728</c:v>
                </c:pt>
                <c:pt idx="7">
                  <c:v>1</c:v>
                </c:pt>
                <c:pt idx="8">
                  <c:v>2.683</c:v>
                </c:pt>
                <c:pt idx="9">
                  <c:v>7.197</c:v>
                </c:pt>
                <c:pt idx="10">
                  <c:v>19.31</c:v>
                </c:pt>
                <c:pt idx="11">
                  <c:v>51.79</c:v>
                </c:pt>
                <c:pt idx="12">
                  <c:v>138.9</c:v>
                </c:pt>
                <c:pt idx="13">
                  <c:v>372.8</c:v>
                </c:pt>
                <c:pt idx="14">
                  <c:v>1000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0.69199999999999995</c:v>
                </c:pt>
                <c:pt idx="1">
                  <c:v>0.74099999999999999</c:v>
                </c:pt>
                <c:pt idx="2">
                  <c:v>0.79200000000000004</c:v>
                </c:pt>
                <c:pt idx="3">
                  <c:v>0.82099999999999995</c:v>
                </c:pt>
                <c:pt idx="4">
                  <c:v>0.83599999999999997</c:v>
                </c:pt>
                <c:pt idx="5">
                  <c:v>0.84199999999999997</c:v>
                </c:pt>
                <c:pt idx="6">
                  <c:v>0.84450000000000003</c:v>
                </c:pt>
                <c:pt idx="7">
                  <c:v>0.84540000000000004</c:v>
                </c:pt>
                <c:pt idx="8">
                  <c:v>0.8458</c:v>
                </c:pt>
                <c:pt idx="9">
                  <c:v>0.84609999999999996</c:v>
                </c:pt>
                <c:pt idx="10">
                  <c:v>0.84619999999999995</c:v>
                </c:pt>
                <c:pt idx="11">
                  <c:v>0.84599999999999997</c:v>
                </c:pt>
                <c:pt idx="12">
                  <c:v>0.84560000000000002</c:v>
                </c:pt>
                <c:pt idx="13">
                  <c:v>0.84509999999999996</c:v>
                </c:pt>
                <c:pt idx="14">
                  <c:v>0.84470000000000001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880-4ADB-913D-C990CA9F58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 (Lasso)</c:v>
                </c:pt>
              </c:strCache>
            </c:strRef>
          </c:tx>
          <c:spPr>
            <a:ln w="31750" cap="flat">
              <a:solidFill>
                <a:srgbClr val="C245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2452D"/>
              </a:solidFill>
              <a:ln w="9525" cap="flat">
                <a:solidFill>
                  <a:srgbClr val="C2452D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0.001</c:v>
                </c:pt>
                <c:pt idx="1">
                  <c:v>0.0027</c:v>
                </c:pt>
                <c:pt idx="2">
                  <c:v>0.0072</c:v>
                </c:pt>
                <c:pt idx="3">
                  <c:v>0.0193</c:v>
                </c:pt>
                <c:pt idx="4">
                  <c:v>0.0518</c:v>
                </c:pt>
                <c:pt idx="5">
                  <c:v>0.1389</c:v>
                </c:pt>
                <c:pt idx="6">
                  <c:v>0.3728</c:v>
                </c:pt>
                <c:pt idx="7">
                  <c:v>1</c:v>
                </c:pt>
                <c:pt idx="8">
                  <c:v>2.683</c:v>
                </c:pt>
                <c:pt idx="9">
                  <c:v>7.197</c:v>
                </c:pt>
                <c:pt idx="10">
                  <c:v>19.31</c:v>
                </c:pt>
                <c:pt idx="11">
                  <c:v>51.79</c:v>
                </c:pt>
                <c:pt idx="12">
                  <c:v>138.9</c:v>
                </c:pt>
                <c:pt idx="13">
                  <c:v>372.8</c:v>
                </c:pt>
                <c:pt idx="14">
                  <c:v>1000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0.5</c:v>
                </c:pt>
                <c:pt idx="1">
                  <c:v>0.5</c:v>
                </c:pt>
                <c:pt idx="2">
                  <c:v>0.52600000000000002</c:v>
                </c:pt>
                <c:pt idx="3">
                  <c:v>0.61199999999999999</c:v>
                </c:pt>
                <c:pt idx="4">
                  <c:v>0.73099999999999998</c:v>
                </c:pt>
                <c:pt idx="5">
                  <c:v>0.80200000000000005</c:v>
                </c:pt>
                <c:pt idx="6">
                  <c:v>0.83199999999999996</c:v>
                </c:pt>
                <c:pt idx="7">
                  <c:v>0.84399999999999997</c:v>
                </c:pt>
                <c:pt idx="8">
                  <c:v>0.84550000000000003</c:v>
                </c:pt>
                <c:pt idx="9">
                  <c:v>0.84599999999999997</c:v>
                </c:pt>
                <c:pt idx="10">
                  <c:v>0.84589999999999999</c:v>
                </c:pt>
                <c:pt idx="11">
                  <c:v>0.84550000000000003</c:v>
                </c:pt>
                <c:pt idx="12">
                  <c:v>0.84499999999999997</c:v>
                </c:pt>
                <c:pt idx="13">
                  <c:v>0.84430000000000005</c:v>
                </c:pt>
                <c:pt idx="14">
                  <c:v>0.84379999999999999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880-4ADB-913D-C990CA9F58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Elastic-Net (ρ=0.5)</c:v>
                </c:pt>
              </c:strCache>
            </c:strRef>
          </c:tx>
          <c:spPr>
            <a:ln w="31750" cap="flat">
              <a:solidFill>
                <a:srgbClr val="0E8A6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8A6F"/>
              </a:solidFill>
              <a:ln w="9525" cap="flat">
                <a:solidFill>
                  <a:srgbClr val="0E8A6F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0.001</c:v>
                </c:pt>
                <c:pt idx="1">
                  <c:v>0.0027</c:v>
                </c:pt>
                <c:pt idx="2">
                  <c:v>0.0072</c:v>
                </c:pt>
                <c:pt idx="3">
                  <c:v>0.0193</c:v>
                </c:pt>
                <c:pt idx="4">
                  <c:v>0.0518</c:v>
                </c:pt>
                <c:pt idx="5">
                  <c:v>0.1389</c:v>
                </c:pt>
                <c:pt idx="6">
                  <c:v>0.3728</c:v>
                </c:pt>
                <c:pt idx="7">
                  <c:v>1</c:v>
                </c:pt>
                <c:pt idx="8">
                  <c:v>2.683</c:v>
                </c:pt>
                <c:pt idx="9">
                  <c:v>7.197</c:v>
                </c:pt>
                <c:pt idx="10">
                  <c:v>19.31</c:v>
                </c:pt>
                <c:pt idx="11">
                  <c:v>51.79</c:v>
                </c:pt>
                <c:pt idx="12">
                  <c:v>138.9</c:v>
                </c:pt>
                <c:pt idx="13">
                  <c:v>372.8</c:v>
                </c:pt>
                <c:pt idx="14">
                  <c:v>1000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0.5</c:v>
                </c:pt>
                <c:pt idx="1">
                  <c:v>0.57799999999999996</c:v>
                </c:pt>
                <c:pt idx="2">
                  <c:v>0.68899999999999995</c:v>
                </c:pt>
                <c:pt idx="3">
                  <c:v>0.76200000000000001</c:v>
                </c:pt>
                <c:pt idx="4">
                  <c:v>0.80800000000000005</c:v>
                </c:pt>
                <c:pt idx="5">
                  <c:v>0.83</c:v>
                </c:pt>
                <c:pt idx="6">
                  <c:v>0.84199999999999997</c:v>
                </c:pt>
                <c:pt idx="7">
                  <c:v>0.8448</c:v>
                </c:pt>
                <c:pt idx="8">
                  <c:v>0.84550000000000003</c:v>
                </c:pt>
                <c:pt idx="9">
                  <c:v>0.8458</c:v>
                </c:pt>
                <c:pt idx="10">
                  <c:v>0.84570000000000001</c:v>
                </c:pt>
                <c:pt idx="11">
                  <c:v>0.84540000000000004</c:v>
                </c:pt>
                <c:pt idx="12">
                  <c:v>0.84499999999999997</c:v>
                </c:pt>
                <c:pt idx="13">
                  <c:v>0.84440000000000004</c:v>
                </c:pt>
                <c:pt idx="14">
                  <c:v>0.84389999999999998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880-4ADB-913D-C990CA9F5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B80"/>
                    </a:solidFill>
                    <a:latin typeface="Arial"/>
                  </a:rPr>
                  <a:t>C  =  1/λ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6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B80"/>
                    </a:solidFill>
                    <a:latin typeface="Arial"/>
                  </a:rPr>
                  <a:t>AUC-ROC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 (test)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 base</c:v>
                </c:pt>
                <c:pt idx="1">
                  <c:v>LR óptimo</c:v>
                </c:pt>
                <c:pt idx="2">
                  <c:v>SVM base</c:v>
                </c:pt>
                <c:pt idx="3">
                  <c:v>SVM óptimo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0.8417</c:v>
                </c:pt>
                <c:pt idx="1">
                  <c:v>0.84060000000000001</c:v>
                </c:pt>
                <c:pt idx="2">
                  <c:v>0.82479999999999998</c:v>
                </c:pt>
                <c:pt idx="3">
                  <c:v>0.83099999999999996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70-4E0D-B845-7FDBB89AE4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(test)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 base</c:v>
                </c:pt>
                <c:pt idx="1">
                  <c:v>LR óptimo</c:v>
                </c:pt>
                <c:pt idx="2">
                  <c:v>SVM base</c:v>
                </c:pt>
                <c:pt idx="3">
                  <c:v>SVM óptimo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0.61360000000000003</c:v>
                </c:pt>
                <c:pt idx="1">
                  <c:v>0.61360000000000003</c:v>
                </c:pt>
                <c:pt idx="2">
                  <c:v>0.62</c:v>
                </c:pt>
                <c:pt idx="3">
                  <c:v>0.58760000000000001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70-4E0D-B845-7FDBB89AE4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8"/>
          <c:min val="0.5500000000000000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599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3774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Optimización de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hiperparámetros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EB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modelos predictivos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Convexa  ·  Aplicación a Telco Customer Churn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54864" cy="548640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Acoyani Garrido Sandoval</a:t>
            </a:r>
            <a:endParaRPr lang="en-US" sz="14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Convexa</a:t>
            </a: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Primavera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Motivación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teoría del curso a un problema real de aprendizaje supervisado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A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996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 de negocio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05740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clientes de una telco están en riesgo de abandonar el servicio (</a:t>
            </a:r>
            <a:r>
              <a:rPr lang="en-US" sz="12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)?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abandonos no detectados es el error más costoso para la retención de clientes.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402336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A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4996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17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del curso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92040" y="205740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Plantear la búsqueda de hiperparámetros como un 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optimización convexa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regularización L1 / L2 / Elastic-Net, dualidad de Lagrange y condiciones KKT como base teórica.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conjunto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 ·  IBM / Kaggle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64008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748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 one-hot)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0E8A6F"/>
          </a:solidFill>
          <a:ln w="12700">
            <a:solidFill>
              <a:srgbClr val="0E8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8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Retenido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64008" cy="1371600"/>
          </a:xfrm>
          <a:prstGeom prst="rect">
            <a:avLst/>
          </a:prstGeom>
          <a:solidFill>
            <a:srgbClr val="C2452D"/>
          </a:solidFill>
          <a:ln w="12700">
            <a:solidFill>
              <a:srgbClr val="C2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1280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245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1920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365760" cy="36576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Partner, Dependents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2697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60320" y="2971800"/>
            <a:ext cx="365760" cy="36576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0" y="30632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PaperlessBilling,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697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2971800"/>
            <a:ext cx="365760" cy="36576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30632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PhoneService, InternetService,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OnlineSecurity, TechSupport,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StreamingTV, ...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2697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66560" y="2971800"/>
            <a:ext cx="365760" cy="36576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30632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(estandarizados)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Pre-procesamiento: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con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drop_first=True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estandarización de variables continuas  ·  split estratificado 80/20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Planteamiento del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pérdida convexa con regularización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075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34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Modelo: Regresión Logística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P(Churn=1 | x)  =  σ(wᵀx + b)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 σ(z) = 1 / (1 + e⁻ᶻ)  es la sigmoide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4114800" cy="1874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(log-verosimilitud negativa)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ℒ(w, b) = − (1/n) Σᵢ [ yᵢ log p̂ᵢ + (1−yᵢ) log(1−p̂ᵢ) ]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Convexa en (w, b)  →  mínimo global único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Diferenciable  →  optimizable con L-BFGS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30759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con regularización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8463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 ℒ(w, b)  +  λ · Ω(w)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846320" y="242316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46320" y="2423160"/>
            <a:ext cx="7315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02920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(Ridge)  </a:t>
            </a:r>
            <a:r>
              <a:rPr lang="en-US" sz="105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Ω(w) = ½ ‖w‖₂²</a:t>
            </a:r>
            <a:endParaRPr lang="en-US" sz="1100" dirty="0"/>
          </a:p>
          <a:p>
            <a:pPr marL="0" indent="0">
              <a:buNone/>
            </a:pPr>
            <a:r>
              <a:rPr lang="en-US" sz="9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pequeños, solución única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846320" y="30632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846320" y="3063240"/>
            <a:ext cx="7315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029200" y="3063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(Lasso)  </a:t>
            </a:r>
            <a:r>
              <a:rPr lang="en-US" sz="105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Ω(w) = ‖w‖₁</a:t>
            </a:r>
            <a:endParaRPr lang="en-US" sz="1100" dirty="0"/>
          </a:p>
          <a:p>
            <a:pPr marL="0" indent="0">
              <a:buNone/>
            </a:pPr>
            <a:r>
              <a:rPr lang="en-US" sz="9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automática (sparsity)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846320" y="370332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846320" y="3703320"/>
            <a:ext cx="7315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029200" y="3703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Elastic-Net  </a:t>
            </a:r>
            <a:r>
              <a:rPr lang="en-US" sz="105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Ω(w) = ρ‖w‖₁ + (1−ρ)/2 ‖w‖₂²</a:t>
            </a:r>
            <a:endParaRPr lang="en-US" sz="1100" dirty="0"/>
          </a:p>
          <a:p>
            <a:pPr marL="0" indent="0">
              <a:buNone/>
            </a:pPr>
            <a:r>
              <a:rPr lang="en-US" sz="9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convexa de L1 y L2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Esquema de modelos e hiperparámetros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familias de clasificadores convexos comparados en paralelo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Regresión Logística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L-BFGS  (quasi-Newton)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optimizados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=  1/λ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inverso de la intensidad de regularización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rango:  [10⁻³, 10²]  en escala log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penalización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L1  ·  L2  ·  Elastic-Net (ρ = 0.5)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Fijos:  class_weight=balanced,  max_iter=3000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 con kernel RBF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Dualidad de Lagrange  ·  condiciones KKT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1488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optimizados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parámetro de margen suave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cota dual:  0 ≤ αᵢ ≤ C   (KKT)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grilla:  {0.1, 1, 10, 100}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ancho de banda del kernel RBF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grilla:  {0.001, 0.01, 0.1, 1}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Justificación del enfoque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bi-nivel: problema exterior + problema interior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EXTERIOR — selección de hiperparámetros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(λ*, tipo*)  =  arg max   ℒ_CV(λ, tipo)   ·   evaluado por validación cruzada estratificada (5 folds)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2286000"/>
            <a:ext cx="91440" cy="365760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INTERIOR — entrenamiento del modelo (λ fijo)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ŵ(λ)  =  arg min   ℒ(w, b)  +  λ · Ω(w)     ·     problema convexo  →  mínimo global garantizado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114800"/>
            <a:ext cx="457200" cy="457200"/>
          </a:xfrm>
          <a:prstGeom prst="ellipse">
            <a:avLst/>
          </a:prstGeom>
          <a:solidFill>
            <a:srgbClr val="0E8A6F"/>
          </a:solidFill>
          <a:ln w="12700">
            <a:solidFill>
              <a:srgbClr val="0E8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87952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40690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Convexidad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global único en el problema interior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83280" y="41148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41879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31920" y="40690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Dualidad / KKT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es cota de los multiplicadores αᵢ del dual SVM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72200" y="411480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418795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0840" y="40690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explícita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en escala log  ·  45 + 16 configuraciones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de regularización (LR)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en validación cruzada vs C = 1/λ  ·  15 valores × 3 penalizaciones = 45 modelos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292608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1280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97880" y="1645920"/>
            <a:ext cx="2697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24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regularización  (C ≪ 1)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Sub-ajuste — los coeficientes son forzados hacia 0.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E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óptima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Meseta amplia en C ≈ 1 – 50.  L2 alcanza C* ≈ 19.3.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regularización  (C ≫ 1)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 sobre-ajuste — L2 es la más estable.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05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base (C=1) ya estaba dentro de la zona óptima.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Búsqueda en grilla — SVM (C, γ)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de AUC-ROC en validación cruzada  ·  16 configuraciones × 5 folds = 80 problemas duales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13258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13258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3258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" y="1691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0.001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23317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0.01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" y="2971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" y="3611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1691640"/>
            <a:ext cx="960120" cy="640080"/>
          </a:xfrm>
          <a:prstGeom prst="rect">
            <a:avLst/>
          </a:prstGeom>
          <a:solidFill>
            <a:srgbClr val="3C7E9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16916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1691640"/>
            <a:ext cx="960120" cy="640080"/>
          </a:xfrm>
          <a:prstGeom prst="rect">
            <a:avLst/>
          </a:prstGeom>
          <a:solidFill>
            <a:srgbClr val="206B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16916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88920" y="1691640"/>
            <a:ext cx="960120" cy="640080"/>
          </a:xfrm>
          <a:prstGeom prst="rect">
            <a:avLst/>
          </a:prstGeom>
          <a:solidFill>
            <a:srgbClr val="12628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88920" y="16916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49040" y="1691640"/>
            <a:ext cx="960120" cy="640080"/>
          </a:xfrm>
          <a:prstGeom prst="rect">
            <a:avLst/>
          </a:prstGeom>
          <a:solidFill>
            <a:srgbClr val="0D5F86"/>
          </a:solidFill>
          <a:ln w="381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49040" y="16916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2331720"/>
            <a:ext cx="960120" cy="640080"/>
          </a:xfrm>
          <a:prstGeom prst="rect">
            <a:avLst/>
          </a:prstGeom>
          <a:solidFill>
            <a:srgbClr val="2F759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3317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0" y="2331720"/>
            <a:ext cx="960120" cy="640080"/>
          </a:xfrm>
          <a:prstGeom prst="rect">
            <a:avLst/>
          </a:prstGeom>
          <a:solidFill>
            <a:srgbClr val="1C688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0" y="23317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88920" y="2331720"/>
            <a:ext cx="960120" cy="640080"/>
          </a:xfrm>
          <a:prstGeom prst="rect">
            <a:avLst/>
          </a:prstGeom>
          <a:solidFill>
            <a:srgbClr val="1866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88920" y="23317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49040" y="2331720"/>
            <a:ext cx="960120" cy="640080"/>
          </a:xfrm>
          <a:prstGeom prst="rect">
            <a:avLst/>
          </a:prstGeom>
          <a:solidFill>
            <a:srgbClr val="1B688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49040" y="23317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2971800"/>
            <a:ext cx="960120" cy="640080"/>
          </a:xfrm>
          <a:prstGeom prst="rect">
            <a:avLst/>
          </a:prstGeom>
          <a:solidFill>
            <a:srgbClr val="5C93A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29718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828800" y="2971800"/>
            <a:ext cx="960120" cy="640080"/>
          </a:xfrm>
          <a:prstGeom prst="rect">
            <a:avLst/>
          </a:prstGeom>
          <a:solidFill>
            <a:srgbClr val="3C7E9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828800" y="29718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88920" y="2971800"/>
            <a:ext cx="960120" cy="640080"/>
          </a:xfrm>
          <a:prstGeom prst="rect">
            <a:avLst/>
          </a:prstGeom>
          <a:solidFill>
            <a:srgbClr val="397C9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88920" y="29718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49040" y="2971800"/>
            <a:ext cx="960120" cy="640080"/>
          </a:xfrm>
          <a:prstGeom prst="rect">
            <a:avLst/>
          </a:prstGeom>
          <a:solidFill>
            <a:srgbClr val="4181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49040" y="29718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68680" y="3611880"/>
            <a:ext cx="960120" cy="640080"/>
          </a:xfrm>
          <a:prstGeom prst="rect">
            <a:avLst/>
          </a:prstGeom>
          <a:solidFill>
            <a:srgbClr val="EFF4F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8680" y="36118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0.612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828800" y="3611880"/>
            <a:ext cx="960120" cy="640080"/>
          </a:xfrm>
          <a:prstGeom prst="rect">
            <a:avLst/>
          </a:prstGeom>
          <a:solidFill>
            <a:srgbClr val="AAC6D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828800" y="36118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0.683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88920" y="3611880"/>
            <a:ext cx="960120" cy="640080"/>
          </a:xfrm>
          <a:prstGeom prst="rect">
            <a:avLst/>
          </a:prstGeom>
          <a:solidFill>
            <a:srgbClr val="A1C0D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88920" y="36118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749040" y="3611880"/>
            <a:ext cx="960120" cy="640080"/>
          </a:xfrm>
          <a:prstGeom prst="rect">
            <a:avLst/>
          </a:prstGeom>
          <a:solidFill>
            <a:srgbClr val="A8C5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49040" y="36118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86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(margen suave / cota dual αᵢ)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74920" y="1417320"/>
            <a:ext cx="3657600" cy="1554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074920" y="1417320"/>
            <a:ext cx="91440" cy="1554480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303520" y="141732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ÓPTIMO  (criterio AUC)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C* = 100   ·   γ* = 0.001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(CV) = 0.8428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E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vs base:  +0.0145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74920" y="3108960"/>
            <a:ext cx="365760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57800" y="32004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 grande  →  pocas violaciones del margen, αᵢ libres de crecer.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γ pequeño  →  kernel plano  →  frontera suave, máxima discriminación global.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 y γ deben ajustarse de forma conjunta.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Base vs Optimizado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y F1-score en el conjunto de prueba (estratificado, 1 409 ejemplos)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09360" y="1325880"/>
            <a:ext cx="411480" cy="41148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389888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2280" y="1298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modelo global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EB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L2,  C = 1</a:t>
            </a:r>
            <a:endParaRPr lang="en-US" sz="14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0.8417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26480" y="278892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126480" y="2788920"/>
            <a:ext cx="73152" cy="868680"/>
          </a:xfrm>
          <a:prstGeom prst="rect">
            <a:avLst/>
          </a:prstGeom>
          <a:solidFill>
            <a:srgbClr val="C2452D"/>
          </a:solidFill>
          <a:ln w="12700">
            <a:solidFill>
              <a:srgbClr val="C2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63640" y="2834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AUC test</a:t>
            </a:r>
            <a:endParaRPr lang="en-US" sz="900" dirty="0"/>
          </a:p>
          <a:p>
            <a:pPr marL="0" indent="0">
              <a:buNone/>
            </a:pPr>
            <a:r>
              <a:rPr lang="en-US" sz="1800" b="1" i="1" dirty="0">
                <a:solidFill>
                  <a:srgbClr val="C24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589520" y="2834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óptimo  vs  LR base</a:t>
            </a:r>
            <a:endParaRPr lang="en-US" sz="1000" dirty="0"/>
          </a:p>
          <a:p>
            <a:pPr marL="0" indent="0">
              <a:buNone/>
            </a:pPr>
            <a:r>
              <a:rPr lang="en-US" sz="9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marginal (ruido)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374904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26480" y="3749040"/>
            <a:ext cx="73152" cy="868680"/>
          </a:xfrm>
          <a:prstGeom prst="rect">
            <a:avLst/>
          </a:prstGeom>
          <a:solidFill>
            <a:srgbClr val="0E8A6F"/>
          </a:solidFill>
          <a:ln w="12700">
            <a:solidFill>
              <a:srgbClr val="0E8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63640" y="37947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AUC test</a:t>
            </a:r>
            <a:endParaRPr lang="en-US" sz="900" dirty="0"/>
          </a:p>
          <a:p>
            <a:pPr marL="0" indent="0">
              <a:buNone/>
            </a:pPr>
            <a:r>
              <a:rPr lang="en-US" sz="1800" b="1" i="1" dirty="0">
                <a:solidFill>
                  <a:srgbClr val="0E8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+0.0062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589520" y="37947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óptimo vs SVM base</a:t>
            </a:r>
            <a:endParaRPr lang="en-US" sz="1000" dirty="0"/>
          </a:p>
          <a:p>
            <a:pPr marL="0" indent="0">
              <a:buNone/>
            </a:pPr>
            <a:r>
              <a:rPr lang="en-US" sz="9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real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de evaluación detalladas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(5-fold) y conjunto de prueba — los cuatro modelos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C6B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L2,  C = 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8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óptimo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C6B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L2,  C = 19.31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C6B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RBF,  C = 1,  γ = scale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8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óptimo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C6B8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RBF,  C = 100,  γ = 0.001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8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8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18795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observado:  </a:t>
            </a: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óptimo para AUC no coincide con el óptimo para F1 en el SVM. </a:t>
            </a:r>
            <a:r>
              <a:rPr lang="en-US" sz="11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objetivo debe fijarse antes de iniciar la búsqueda.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Lecciones aprendidas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ideas clave del proyecto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502920" cy="502920"/>
          </a:xfrm>
          <a:prstGeom prst="ellipse">
            <a:avLst/>
          </a:prstGeom>
          <a:solidFill>
            <a:srgbClr val="0E8A6F"/>
          </a:solidFill>
          <a:ln w="12700">
            <a:solidFill>
              <a:srgbClr val="0E8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44168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88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737360" y="1188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punto de partida puede no necesitar optimización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base (L2, C=1) ya estaba en la zona óptima. La optimización debe justificarse comparando contra una línea base sólida.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1975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057400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90195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737360" y="190195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de evaluación define el resultado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por AUC-ROC y por F1 condujo a configuraciones distintas para el SVM. Fijar la métrica objetivo es una decisión de diseño crítica.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2688336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2770632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6151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737360" y="261518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teoría tiene aplicación directa en el diagnóstico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KKT predijo que un C pequeño implicaba holgura excesiva; el 53.8 % de vectores de soporte lo confirmó empíricamente antes de mirar las métricas.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401568"/>
            <a:ext cx="502920" cy="502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483864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32841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737360" y="332841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estratificada es imprescindible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estratificación, algunos pliegues podrían no contener instancias de la clase minoritaria (26.5 %), sesgando la estimación de rendimiento.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02920" y="4114800"/>
            <a:ext cx="502920" cy="5029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419709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0416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1737360" y="404164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 bi-nivel  →  claridad conceptual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explícitamente el problema exterior (búsqueda de λ) del interior (minimización convexa) evita confundir la validación con el entrenamiento.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36576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Optimización Convexa  |  Acoyani Garrido Sandoval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828800" cy="320040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Recomendaciones 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trabajo futuro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producción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Regresión Logística con L2, C=1.  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robustez, interpretabilidad y menor costo computacional.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el umbral de decisión en lugar de hiperparámetros.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minimizar falsos negativos (clientes que se van sin ser detectados).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Reentrenar trimestralmente.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 concept drift en comportamiento de clientes.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7889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ensamble  </a:t>
            </a:r>
            <a:r>
              <a:rPr lang="en-US" sz="11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(XGBoost, LightGBM)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no lineales sin ingeniería manual.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bayesiana.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80 evaluaciones SVM a ~20-30 con TPE / GP.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temporal  (walk-forward).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fuga de información futura en condiciones de despliegue.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54864" cy="274320"/>
          </a:xfrm>
          <a:prstGeom prst="rect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736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Acoyani Garrido Sandoval  </a:t>
            </a:r>
            <a:r>
              <a:rPr lang="en-US" sz="11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Proyecto Final  ·  Optimización Convexa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4736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1486</Words>
  <Application>Microsoft Office PowerPoint</Application>
  <PresentationFormat>On-screen Show (16:9)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de hiperparámetros en modelos predictivos</dc:title>
  <dc:subject>PptxGenJS Presentation</dc:subject>
  <dc:creator>Acoyani Garrido Sandoval</dc:creator>
  <cp:lastModifiedBy>Acoyani Garrido Sandoval</cp:lastModifiedBy>
  <cp:revision>2</cp:revision>
  <dcterms:created xsi:type="dcterms:W3CDTF">2026-05-20T09:55:34Z</dcterms:created>
  <dcterms:modified xsi:type="dcterms:W3CDTF">2026-05-20T10:00:01Z</dcterms:modified>
</cp:coreProperties>
</file>